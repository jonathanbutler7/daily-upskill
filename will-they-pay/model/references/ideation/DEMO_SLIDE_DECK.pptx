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impact: this is a revenue recovery product, not a model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payment speed slows, unpaid incidence rises materially.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Simple pipeline, strong model, actionable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Prediction is useful only when it changes actions in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team, better prioritization, materially better recovery potential.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phase is tighter product loops and higher-quality AI actioning.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2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384048"/>
            <a:ext cx="914400" cy="384048"/>
          </a:xfrm>
          <a:prstGeom prst="roundRect">
            <a:avLst/>
          </a:prstGeom>
          <a:solidFill>
            <a:srgbClr val="162948"/>
          </a:solidFill>
          <a:ln>
            <a:solidFill>
              <a:srgbClr val="12A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4F7FC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A2B2C9"/>
                </a:solidFill>
              </a:rPr>
              <a:t># Will They Pay? Demo Slide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4F7FC"/>
                </a:solidFill>
              </a:rPr>
              <a:t># Will They Pay? Demo Slide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377440" cy="54864"/>
          </a:xfrm>
          <a:prstGeom prst="rect">
            <a:avLst/>
          </a:prstGeom>
          <a:solidFill>
            <a:srgbClr val="12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2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384048"/>
            <a:ext cx="914400" cy="384048"/>
          </a:xfrm>
          <a:prstGeom prst="roundRect">
            <a:avLst/>
          </a:prstGeom>
          <a:solidFill>
            <a:srgbClr val="162948"/>
          </a:solidFill>
          <a:ln>
            <a:solidFill>
              <a:srgbClr val="12A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4F7FC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A2B2C9"/>
                </a:solidFill>
              </a:rPr>
              <a:t>Slide 1 - Business Problem + Revenue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4F7FC"/>
                </a:solidFill>
              </a:rPr>
              <a:t>$1.52M Unpaid Today; $1.19M Phase-1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377440" cy="54864"/>
          </a:xfrm>
          <a:prstGeom prst="rect">
            <a:avLst/>
          </a:prstGeom>
          <a:solidFill>
            <a:srgbClr val="12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$1.52M unpaid in one location cohort (~2 years)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5,317 unpaid invoices (35.4%, no-payment-row definition)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$1.19M addressable by prioritizing top 30% balances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That is 78% of unpaid dollars in this cohort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263640"/>
            <a:ext cx="1828800" cy="347472"/>
          </a:xfrm>
          <a:prstGeom prst="roundRect">
            <a:avLst/>
          </a:prstGeom>
          <a:solidFill>
            <a:srgbClr val="162948"/>
          </a:solidFill>
          <a:ln>
            <a:solidFill>
              <a:srgbClr val="3D5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2B2C9"/>
                </a:solidFill>
              </a:rPr>
              <a:t>Speaker note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2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384048"/>
            <a:ext cx="914400" cy="384048"/>
          </a:xfrm>
          <a:prstGeom prst="roundRect">
            <a:avLst/>
          </a:prstGeom>
          <a:solidFill>
            <a:srgbClr val="162948"/>
          </a:solidFill>
          <a:ln>
            <a:solidFill>
              <a:srgbClr val="12A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4F7FC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A2B2C9"/>
                </a:solidFill>
              </a:rPr>
              <a:t>Slide 2 - Why This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4F7FC"/>
                </a:solidFill>
              </a:rPr>
              <a:t>Payment Speed Strongly Predicts Collection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377440" cy="54864"/>
          </a:xfrm>
          <a:prstGeom prst="rect">
            <a:avLst/>
          </a:prstGeom>
          <a:solidFill>
            <a:srgbClr val="12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Mean time-to-pay: 0.59 days (~14h 16m)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Long tail extends to 104 days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% with unpaid balance by speed band: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&lt;15 min: 16.9% -&gt; 30+ days: 56.3%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263640"/>
            <a:ext cx="1828800" cy="347472"/>
          </a:xfrm>
          <a:prstGeom prst="roundRect">
            <a:avLst/>
          </a:prstGeom>
          <a:solidFill>
            <a:srgbClr val="162948"/>
          </a:solidFill>
          <a:ln>
            <a:solidFill>
              <a:srgbClr val="3D5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2B2C9"/>
                </a:solidFill>
              </a:rPr>
              <a:t>Speaker note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2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384048"/>
            <a:ext cx="914400" cy="384048"/>
          </a:xfrm>
          <a:prstGeom prst="roundRect">
            <a:avLst/>
          </a:prstGeom>
          <a:solidFill>
            <a:srgbClr val="162948"/>
          </a:solidFill>
          <a:ln>
            <a:solidFill>
              <a:srgbClr val="12A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4F7FC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A2B2C9"/>
                </a:solidFill>
              </a:rPr>
              <a:t>Slide 3 - How It Works + Model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4F7FC"/>
                </a:solidFill>
              </a:rPr>
              <a:t>ML Pipeline &amp; Why XGBoost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377440" cy="54864"/>
          </a:xfrm>
          <a:prstGeom prst="rect">
            <a:avLst/>
          </a:prstGeom>
          <a:solidFill>
            <a:srgbClr val="12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Pipeline: labeled data -&gt; feature engineering -&gt; XGBoost training -&gt; risk scores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Why XGBoost: evaluated LR, RF, XGBoost; XGBoost won on discrimination + calibration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Production eval: ROC-AUC 0.946 (strong separation of payers vs non-payers)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Output: confidence_score + risk_band fed directly to product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263640"/>
            <a:ext cx="1828800" cy="347472"/>
          </a:xfrm>
          <a:prstGeom prst="roundRect">
            <a:avLst/>
          </a:prstGeom>
          <a:solidFill>
            <a:srgbClr val="162948"/>
          </a:solidFill>
          <a:ln>
            <a:solidFill>
              <a:srgbClr val="3D5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2B2C9"/>
                </a:solidFill>
              </a:rPr>
              <a:t>Speaker note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2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384048"/>
            <a:ext cx="914400" cy="384048"/>
          </a:xfrm>
          <a:prstGeom prst="roundRect">
            <a:avLst/>
          </a:prstGeom>
          <a:solidFill>
            <a:srgbClr val="162948"/>
          </a:solidFill>
          <a:ln>
            <a:solidFill>
              <a:srgbClr val="12A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4F7FC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A2B2C9"/>
                </a:solidFill>
              </a:rPr>
              <a:t>Slide 4 - Revenue Action in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4F7FC"/>
                </a:solidFill>
              </a:rPr>
              <a:t>Risk Score → Workflow → Collected Dollars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377440" cy="54864"/>
          </a:xfrm>
          <a:prstGeom prst="rect">
            <a:avLst/>
          </a:prstGeom>
          <a:solidFill>
            <a:srgbClr val="12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High risk: proactive outreach + payment plan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Medium/low risk: lighter-touch cadence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Integration: TTP scheduling + Tasks ownership tracking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Goal: highest-ROI staff effort on highest-risk balances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263640"/>
            <a:ext cx="1828800" cy="347472"/>
          </a:xfrm>
          <a:prstGeom prst="roundRect">
            <a:avLst/>
          </a:prstGeom>
          <a:solidFill>
            <a:srgbClr val="162948"/>
          </a:solidFill>
          <a:ln>
            <a:solidFill>
              <a:srgbClr val="3D5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2B2C9"/>
                </a:solidFill>
              </a:rPr>
              <a:t>Speaker note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2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384048"/>
            <a:ext cx="914400" cy="384048"/>
          </a:xfrm>
          <a:prstGeom prst="roundRect">
            <a:avLst/>
          </a:prstGeom>
          <a:solidFill>
            <a:srgbClr val="162948"/>
          </a:solidFill>
          <a:ln>
            <a:solidFill>
              <a:srgbClr val="12A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4F7FC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A2B2C9"/>
                </a:solidFill>
              </a:rPr>
              <a:t>Slide 5 - Business Impact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4F7FC"/>
                </a:solidFill>
              </a:rPr>
              <a:t>Customer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377440" cy="54864"/>
          </a:xfrm>
          <a:prstGeom prst="rect">
            <a:avLst/>
          </a:prstGeom>
          <a:solidFill>
            <a:srgbClr val="12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Revenue at risk: $1.52M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Phase-1 target: $1.19M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Focused strategy: top 30% prioritized first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Outcome: higher collection efficiency + better patient 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263640"/>
            <a:ext cx="1828800" cy="347472"/>
          </a:xfrm>
          <a:prstGeom prst="roundRect">
            <a:avLst/>
          </a:prstGeom>
          <a:solidFill>
            <a:srgbClr val="162948"/>
          </a:solidFill>
          <a:ln>
            <a:solidFill>
              <a:srgbClr val="3D5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2B2C9"/>
                </a:solidFill>
              </a:rPr>
              <a:t>Speaker note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2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384048"/>
            <a:ext cx="914400" cy="384048"/>
          </a:xfrm>
          <a:prstGeom prst="roundRect">
            <a:avLst/>
          </a:prstGeom>
          <a:solidFill>
            <a:srgbClr val="162948"/>
          </a:solidFill>
          <a:ln>
            <a:solidFill>
              <a:srgbClr val="12A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4F7FC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A2B2C9"/>
                </a:solidFill>
              </a:rPr>
              <a:t>Slide 6 -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4F7FC"/>
                </a:solidFill>
              </a:rPr>
              <a:t>Next Product Investments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377440" cy="54864"/>
          </a:xfrm>
          <a:prstGeom prst="rect">
            <a:avLst/>
          </a:prstGeom>
          <a:solidFill>
            <a:srgbClr val="12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Manual single-patient model reruns in product UI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More intentional dogfooding (especially task workflow usage)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Better AI next-best-action suggestions to collect more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263640"/>
            <a:ext cx="1828800" cy="347472"/>
          </a:xfrm>
          <a:prstGeom prst="roundRect">
            <a:avLst/>
          </a:prstGeom>
          <a:solidFill>
            <a:srgbClr val="162948"/>
          </a:solidFill>
          <a:ln>
            <a:solidFill>
              <a:srgbClr val="3D5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A2B2C9"/>
                </a:solidFill>
              </a:rPr>
              <a:t>Speaker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2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384048"/>
            <a:ext cx="914400" cy="384048"/>
          </a:xfrm>
          <a:prstGeom prst="roundRect">
            <a:avLst/>
          </a:prstGeom>
          <a:solidFill>
            <a:srgbClr val="162948"/>
          </a:solidFill>
          <a:ln>
            <a:solidFill>
              <a:srgbClr val="12A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4F7FC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A2B2C9"/>
                </a:solidFill>
              </a:rPr>
              <a:t>Slide 7 - Ethics &amp;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4F7FC"/>
                </a:solidFill>
              </a:rPr>
              <a:t>Patient-Safe, Fairness-Aware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377440" cy="54864"/>
          </a:xfrm>
          <a:prstGeom prst="rect">
            <a:avLst/>
          </a:prstGeom>
          <a:solidFill>
            <a:srgbClr val="12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Use case: prioritize outreach, never deny care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ZIP-level Census/ACS aggregates only (not individual income)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Monitor segment-level calibration + error rates each retrain cycle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4F7FC"/>
                </a:solidFill>
              </a:rPr>
              <a:t>• Remove/reweight features if fairness thresholds are breached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2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360" y="384048"/>
            <a:ext cx="914400" cy="384048"/>
          </a:xfrm>
          <a:prstGeom prst="roundRect">
            <a:avLst/>
          </a:prstGeom>
          <a:solidFill>
            <a:srgbClr val="162948"/>
          </a:solidFill>
          <a:ln>
            <a:solidFill>
              <a:srgbClr val="12A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4F7FC"/>
                </a:solidFill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A2B2C9"/>
                </a:solidFill>
              </a:rPr>
              <a:t>Slide 8 - Q&amp;A Support: Metric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4F7FC"/>
                </a:solidFill>
              </a:rPr>
              <a:t>Why Unpaid Counts Can Differ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377440" cy="54864"/>
          </a:xfrm>
          <a:prstGeom prst="rect">
            <a:avLst/>
          </a:prstGeom>
          <a:solidFill>
            <a:srgbClr val="12A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